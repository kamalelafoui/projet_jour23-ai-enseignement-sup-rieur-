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9DCC6833-A5FD-CABE-B04C-9A40D9DE0B20}">
          <p14:sldIdLst>
            <p14:sldId id="256"/>
          </p14:sldIdLst>
        </p14:section>
        <p14:section name="Contenu" id="{C363A15B-2C11-C3F1-74D9-37A266E09482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072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27448"/>
            <a:ext cx="27432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EduAgent · Jour 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EduAgent : </a:t>
            </a:r>
            <a:r>
              <a:rPr lang="en-US" sz="3800" b="1" dirty="0" err="1">
                <a:solidFill>
                  <a:schemeClr val="bg1"/>
                </a:solidFill>
              </a:rPr>
              <a:t>Gouvernance</a:t>
            </a:r>
            <a:r>
              <a:rPr lang="en-US" sz="3800" b="1" dirty="0">
                <a:solidFill>
                  <a:schemeClr val="bg1"/>
                </a:solidFill>
              </a:rPr>
              <a:t> d'un agent IA d'admission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61002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Jour 23 : Agent Cards, versionnement, runbook et </a:t>
            </a:r>
            <a:r>
              <a:rPr lang="en-US" sz="1800" dirty="0" err="1">
                <a:solidFill>
                  <a:schemeClr val="bg2"/>
                </a:solidFill>
              </a:rPr>
              <a:t>déploiement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KAMAL EL AFOUI</a:t>
            </a:r>
          </a:p>
        </p:txBody>
      </p:sp>
      <p:pic>
        <p:nvPicPr>
          <p:cNvPr id="4" name="Image 0" descr="Logo EduAg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26568"/>
            <a:ext cx="1097280" cy="1097280"/>
          </a:xfrm>
          <a:prstGeom prst="rect">
            <a:avLst/>
          </a:prstGeom>
        </p:spPr>
      </p:pic>
      <p:pic>
        <p:nvPicPr>
          <p:cNvPr id="6" name="logo-1" descr="preencoded.png">
            <a:extLst>
              <a:ext uri="{FF2B5EF4-FFF2-40B4-BE49-F238E27FC236}">
                <a16:creationId xmlns:a16="http://schemas.microsoft.com/office/drawing/2014/main" id="{D6DBE738-1CD0-E165-01B8-FF09C16E2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526" y="160020"/>
            <a:ext cx="758952" cy="777240"/>
          </a:xfrm>
          <a:prstGeom prst="rect">
            <a:avLst/>
          </a:prstGeom>
        </p:spPr>
      </p:pic>
      <p:pic>
        <p:nvPicPr>
          <p:cNvPr id="8" name="logo-2" descr="preencoded.png">
            <a:extLst>
              <a:ext uri="{FF2B5EF4-FFF2-40B4-BE49-F238E27FC236}">
                <a16:creationId xmlns:a16="http://schemas.microsoft.com/office/drawing/2014/main" id="{B30F2EFD-A92D-F019-3398-08E75A125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51460"/>
            <a:ext cx="141732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Objectif du jour</a:t>
            </a:r>
            <a:endParaRPr lang="en-US" sz="3200" dirty="0"/>
          </a:p>
        </p:txBody>
      </p:sp>
      <p:sp>
        <p:nvSpPr>
          <p:cNvPr id="3" name="Carte objectif 1"/>
          <p:cNvSpPr/>
          <p:nvPr/>
        </p:nvSpPr>
        <p:spPr>
          <a:xfrm>
            <a:off x="457200" y="13258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Numéro objectif 1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éro objectif 1 texte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356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Identité et traçabilité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Donner une identité à chaque agent via son Agent Card</a:t>
            </a:r>
            <a:endParaRPr lang="en-US" sz="1400" dirty="0"/>
          </a:p>
        </p:txBody>
      </p:sp>
      <p:sp>
        <p:nvSpPr>
          <p:cNvPr id="8" name="Carte objectif 2"/>
          <p:cNvSpPr/>
          <p:nvPr/>
        </p:nvSpPr>
        <p:spPr>
          <a:xfrm>
            <a:off x="457200" y="24231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Numéro objectif 2"/>
          <p:cNvSpPr/>
          <p:nvPr/>
        </p:nvSpPr>
        <p:spPr>
          <a:xfrm>
            <a:off x="685800" y="2606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éro objectif 2 texte"/>
          <p:cNvSpPr txBox="1"/>
          <p:nvPr/>
        </p:nvSpPr>
        <p:spPr>
          <a:xfrm>
            <a:off x="6858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328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Changements encadrés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803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Passer par un workflow d'approbation à deux rôles</a:t>
            </a:r>
            <a:endParaRPr lang="en-US" sz="1400" dirty="0"/>
          </a:p>
        </p:txBody>
      </p:sp>
      <p:sp>
        <p:nvSpPr>
          <p:cNvPr id="13" name="Carte objectif 3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Numéro objectif 3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éro objectif 3 texte"/>
          <p:cNvSpPr txBox="1"/>
          <p:nvPr/>
        </p:nvSpPr>
        <p:spPr>
          <a:xfrm>
            <a:off x="6858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6301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Urgence maîtrisée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77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Tester le kill switch et le rollback en conditions réelles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</a:t>
            </a:r>
            <a:endParaRPr lang="en-US" sz="3200" dirty="0"/>
          </a:p>
        </p:txBody>
      </p:sp>
      <p:sp>
        <p:nvSpPr>
          <p:cNvPr id="3" name="Bloc architecture 1"/>
          <p:cNvSpPr/>
          <p:nvPr/>
        </p:nvSpPr>
        <p:spPr>
          <a:xfrm>
            <a:off x="457200" y="146304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Tableau de bord + API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FastAPI, port 8001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Bloc architecture 2"/>
          <p:cNvSpPr/>
          <p:nvPr/>
        </p:nvSpPr>
        <p:spPr>
          <a:xfrm>
            <a:off x="2560320" y="146304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Pipeline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Validation, scoring, routage HITL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Bloc architecture 3"/>
          <p:cNvSpPr/>
          <p:nvPr/>
        </p:nvSpPr>
        <p:spPr>
          <a:xfrm>
            <a:off x="4663440" y="146304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Gouvernance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Versions, demandes, cas golden, audit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Bloc architecture 4"/>
          <p:cNvSpPr/>
          <p:nvPr/>
        </p:nvSpPr>
        <p:spPr>
          <a:xfrm>
            <a:off x="6766560" y="146304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Déploiement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compose up --build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Le scoring est déterministe et reproductible ; toute décision finale reste humaine.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58BC556-CEA8-040E-D2DF-423F5B610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60" y="236483"/>
            <a:ext cx="8558256" cy="4303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Agent Card : identité et périmètre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Accélérer le tri des dossiers sans décider seul des admissions</a:t>
            </a:r>
            <a:endParaRPr lang="en-US" sz="1600" dirty="0"/>
          </a:p>
        </p:txBody>
      </p:sp>
      <p:sp>
        <p:nvSpPr>
          <p:cNvPr id="4" name="Carte identité"/>
          <p:cNvSpPr/>
          <p:nvPr/>
        </p:nvSpPr>
        <p:spPr>
          <a:xfrm>
            <a:off x="457200" y="164592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Identité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EDU-ADM-001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EduAgent, agent d'admission HITL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Métier : responsable pédagogique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Technique : équipe data et IA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Revue : 2026-10-28, puis 2027-01-28</a:t>
            </a:r>
            <a:endParaRPr lang="en-US" sz="1400" b="1" dirty="0"/>
          </a:p>
        </p:txBody>
      </p:sp>
      <p:sp>
        <p:nvSpPr>
          <p:cNvPr id="7" name="Carte outils"/>
          <p:cNvSpPr/>
          <p:nvPr/>
        </p:nvSpPr>
        <p:spPr>
          <a:xfrm>
            <a:off x="4663440" y="164592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Outils et sources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1945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Règles de scoring (actif)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Modèle OpenRouter (actif si clé, sinon simulation)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Slack d'escalade (simulé)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Journal d'audit (actif)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Formulaire et CSV fictif, sans e-mail</a:t>
            </a:r>
            <a:endParaRPr lang="en-US" sz="14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Agent Card : KPI et garde-fous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KPI et seuils</a:t>
            </a:r>
            <a:endParaRPr lang="en-US" sz="1800" dirty="0"/>
          </a:p>
        </p:txBody>
      </p:sp>
      <p:sp>
        <p:nvSpPr>
          <p:cNvPr id="4" name="Tuile KPI 1"/>
          <p:cNvSpPr/>
          <p:nvPr/>
        </p:nvSpPr>
        <p:spPr>
          <a:xfrm>
            <a:off x="457200" y="160020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09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≥ 80 %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succès</a:t>
            </a:r>
            <a:endParaRPr lang="en-US" sz="1400" dirty="0"/>
          </a:p>
        </p:txBody>
      </p:sp>
      <p:sp>
        <p:nvSpPr>
          <p:cNvPr id="7" name="Tuile KPI 2"/>
          <p:cNvSpPr/>
          <p:nvPr/>
        </p:nvSpPr>
        <p:spPr>
          <a:xfrm>
            <a:off x="2468880" y="160020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68880" y="1709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≤ 5000 ms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286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latence</a:t>
            </a:r>
            <a:endParaRPr lang="en-US" sz="1400" dirty="0"/>
          </a:p>
        </p:txBody>
      </p:sp>
      <p:sp>
        <p:nvSpPr>
          <p:cNvPr id="10" name="Tuile KPI 3"/>
          <p:cNvSpPr/>
          <p:nvPr/>
        </p:nvSpPr>
        <p:spPr>
          <a:xfrm>
            <a:off x="457200" y="297180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0815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≤ 20 %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échec</a:t>
            </a:r>
            <a:endParaRPr lang="en-US" sz="1400" dirty="0"/>
          </a:p>
        </p:txBody>
      </p:sp>
      <p:sp>
        <p:nvSpPr>
          <p:cNvPr id="13" name="Tuile KPI 4"/>
          <p:cNvSpPr/>
          <p:nvPr/>
        </p:nvSpPr>
        <p:spPr>
          <a:xfrm>
            <a:off x="2468880" y="2971800"/>
            <a:ext cx="1874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68880" y="30815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2000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657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tokens par lot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Seuil HITL : 70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Garde-fous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Kill switch : suspension immédiate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Rollback vers une version stable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Approbation à deux rôles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Non-régression sur les cas golden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Dossier = donnée non fiable</a:t>
            </a:r>
            <a:endParaRPr lang="en-US" sz="14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Score absent ou ambigu : escalade</a:t>
            </a:r>
            <a:endParaRPr lang="en-US" sz="14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Workflow d'approbation</a:t>
            </a:r>
            <a:endParaRPr lang="en-US" sz="3200" dirty="0"/>
          </a:p>
        </p:txBody>
      </p:sp>
      <p:sp>
        <p:nvSpPr>
          <p:cNvPr id="3" name="Étape 1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Numéro ét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éro étape 1 texte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Proposition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CR-xxx, en revue</a:t>
            </a:r>
            <a:endParaRPr lang="en-US" sz="1400" dirty="0"/>
          </a:p>
        </p:txBody>
      </p:sp>
      <p:sp>
        <p:nvSpPr>
          <p:cNvPr id="8" name="Étape 2"/>
          <p:cNvSpPr/>
          <p:nvPr/>
        </p:nvSpPr>
        <p:spPr>
          <a:xfrm>
            <a:off x="324612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Numéro étape 2"/>
          <p:cNvSpPr/>
          <p:nvPr/>
        </p:nvSpPr>
        <p:spPr>
          <a:xfrm>
            <a:off x="34290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éro étape 2 texte"/>
          <p:cNvSpPr txBox="1"/>
          <p:nvPr/>
        </p:nvSpPr>
        <p:spPr>
          <a:xfrm>
            <a:off x="3429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Revue technique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Responsable technique</a:t>
            </a:r>
            <a:endParaRPr lang="en-US" sz="1400" dirty="0"/>
          </a:p>
        </p:txBody>
      </p:sp>
      <p:sp>
        <p:nvSpPr>
          <p:cNvPr id="13" name="Étape 3"/>
          <p:cNvSpPr/>
          <p:nvPr/>
        </p:nvSpPr>
        <p:spPr>
          <a:xfrm>
            <a:off x="603504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4" name="Numéro étape 3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éro étape 3 texte"/>
          <p:cNvSpPr txBox="1"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Validation pédagogique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Responsable pédagogique</a:t>
            </a:r>
            <a:endParaRPr lang="en-US" sz="1400" dirty="0"/>
          </a:p>
        </p:txBody>
      </p:sp>
      <p:sp>
        <p:nvSpPr>
          <p:cNvPr id="18" name="Étape 4"/>
          <p:cNvSpPr/>
          <p:nvPr/>
        </p:nvSpPr>
        <p:spPr>
          <a:xfrm>
            <a:off x="45720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9" name="Numéro étape 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Numéro étape 4 texte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Non-régression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Cas golden</a:t>
            </a:r>
            <a:endParaRPr lang="en-US" sz="1400" dirty="0"/>
          </a:p>
        </p:txBody>
      </p:sp>
      <p:sp>
        <p:nvSpPr>
          <p:cNvPr id="23" name="Étape 5"/>
          <p:cNvSpPr/>
          <p:nvPr/>
        </p:nvSpPr>
        <p:spPr>
          <a:xfrm>
            <a:off x="324612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4" name="Numéro étape 5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Numéro étape 5 texte"/>
          <p:cNvSpPr txBox="1"/>
          <p:nvPr/>
        </p:nvSpPr>
        <p:spPr>
          <a:xfrm>
            <a:off x="3429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Déploiement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SemVer, audit, tag Git</a:t>
            </a:r>
            <a:endParaRPr lang="en-US" sz="1400" dirty="0"/>
          </a:p>
        </p:txBody>
      </p:sp>
      <p:sp>
        <p:nvSpPr>
          <p:cNvPr id="28" name="Étape 6"/>
          <p:cNvSpPr/>
          <p:nvPr/>
        </p:nvSpPr>
        <p:spPr>
          <a:xfrm>
            <a:off x="603504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9" name="Numéro étape 6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Numéro étape 6 texte"/>
          <p:cNvSpPr txBox="1"/>
          <p:nvPr/>
        </p:nvSpPr>
        <p:spPr>
          <a:xfrm>
            <a:off x="6217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Surveillance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Rollback selon runbook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Versionnement SemVer</a:t>
            </a:r>
            <a:endParaRPr lang="en-US" sz="3200" dirty="0"/>
          </a:p>
        </p:txBody>
      </p:sp>
      <p:graphicFrame>
        <p:nvGraphicFramePr>
          <p:cNvPr id="8" name="Tableau vers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Version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Statut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Origine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1.0.0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stable (active)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version initiale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1.1.0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retirée par rollback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CR-002 : seuil HITL 70 → 90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1.0.1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en revue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CR-003 : latence d'alerte 5 s → 4 s</a:t>
                      </a:r>
                      <a:endParaRPr lang="en-US" sz="1400" dirty="0"/>
                    </a:p>
                  </a:txBody>
                  <a:tcPr marT="0" marB="0" anchor="ctr">
                    <a:lnL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ègle Major"/>
          <p:cNvSpPr/>
          <p:nvPr/>
        </p:nvSpPr>
        <p:spPr>
          <a:xfrm>
            <a:off x="457200" y="347472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Major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refonte ou rupture</a:t>
            </a:r>
            <a:endParaRPr lang="en-US" sz="1400" dirty="0"/>
          </a:p>
        </p:txBody>
      </p:sp>
      <p:sp>
        <p:nvSpPr>
          <p:cNvPr id="7" name="Règle Minor"/>
          <p:cNvSpPr/>
          <p:nvPr/>
        </p:nvSpPr>
        <p:spPr>
          <a:xfrm>
            <a:off x="3246120" y="347472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" name="Text 5"/>
          <p:cNvSpPr txBox="1"/>
          <p:nvPr/>
        </p:nvSpPr>
        <p:spPr>
          <a:xfrm>
            <a:off x="34290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Minor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routage rétro-compatible</a:t>
            </a:r>
            <a:endParaRPr lang="en-US" sz="1400" dirty="0"/>
          </a:p>
        </p:txBody>
      </p:sp>
      <p:sp>
        <p:nvSpPr>
          <p:cNvPr id="10" name="Règle Patch"/>
          <p:cNvSpPr/>
          <p:nvPr/>
        </p:nvSpPr>
        <p:spPr>
          <a:xfrm>
            <a:off x="6035040" y="347472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Patch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correction ou ajustement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Résultats du lot de test</a:t>
            </a:r>
            <a:endParaRPr lang="en-US" sz="3200" dirty="0"/>
          </a:p>
        </p:txBody>
      </p:sp>
      <p:sp>
        <p:nvSpPr>
          <p:cNvPr id="3" name="Tuile résultat 1"/>
          <p:cNvSpPr/>
          <p:nvPr/>
        </p:nvSpPr>
        <p:spPr>
          <a:xfrm>
            <a:off x="457200" y="13716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dossiers traités</a:t>
            </a:r>
            <a:endParaRPr lang="en-US" sz="1400" dirty="0"/>
          </a:p>
        </p:txBody>
      </p:sp>
      <p:sp>
        <p:nvSpPr>
          <p:cNvPr id="6" name="Tuile résultat 2"/>
          <p:cNvSpPr/>
          <p:nvPr/>
        </p:nvSpPr>
        <p:spPr>
          <a:xfrm>
            <a:off x="2560320" y="13716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3"/>
                </a:solidFill>
              </a:rPr>
              <a:t>78,6 %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succès (seuil 80 %)</a:t>
            </a:r>
            <a:endParaRPr lang="en-US" sz="1400" dirty="0"/>
          </a:p>
        </p:txBody>
      </p:sp>
      <p:sp>
        <p:nvSpPr>
          <p:cNvPr id="9" name="Tuile résultat 3"/>
          <p:cNvSpPr/>
          <p:nvPr/>
        </p:nvSpPr>
        <p:spPr>
          <a:xfrm>
            <a:off x="4663440" y="13716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1678 ms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latence moyenne</a:t>
            </a:r>
            <a:endParaRPr lang="en-US" sz="1400" dirty="0"/>
          </a:p>
        </p:txBody>
      </p:sp>
      <p:sp>
        <p:nvSpPr>
          <p:cNvPr id="12" name="Tuile résultat 4"/>
          <p:cNvSpPr/>
          <p:nvPr/>
        </p:nvSpPr>
        <p:spPr>
          <a:xfrm>
            <a:off x="6766560" y="13716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3"/>
                </a:solidFill>
              </a:rPr>
              <a:t>2397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tokens (budget 2000)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Échec : 21,4 % · coût total : 0,000828 USD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Succès, échec et tokens dépassent les seuils de l'Agent Card sur ce 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Simulation d'incident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Régression de seuil HITL après le déploiement approuvé de CR-002 (v1.1.0)</a:t>
            </a:r>
            <a:endParaRPr lang="en-US" sz="1600" dirty="0"/>
          </a:p>
        </p:txBody>
      </p:sp>
      <p:sp>
        <p:nvSpPr>
          <p:cNvPr id="4" name="Phase incident 1"/>
          <p:cNvSpPr/>
          <p:nvPr/>
        </p:nvSpPr>
        <p:spPr>
          <a:xfrm>
            <a:off x="457200" y="16916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Numéro phas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Numéro phase 1 texte"/>
          <p:cNvSpPr txBox="1"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Détection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dossiers à risque élevé classés à risque faible</a:t>
            </a:r>
            <a:endParaRPr lang="en-US" sz="1400" dirty="0"/>
          </a:p>
        </p:txBody>
      </p:sp>
      <p:sp>
        <p:nvSpPr>
          <p:cNvPr id="9" name="Phase incident 2"/>
          <p:cNvSpPr/>
          <p:nvPr/>
        </p:nvSpPr>
        <p:spPr>
          <a:xfrm>
            <a:off x="2560320" y="16916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Numéro phase 2"/>
          <p:cNvSpPr/>
          <p:nvPr/>
        </p:nvSpPr>
        <p:spPr>
          <a:xfrm>
            <a:off x="274320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éro phase 2 texte"/>
          <p:cNvSpPr txBox="1"/>
          <p:nvPr/>
        </p:nvSpPr>
        <p:spPr>
          <a:xfrm>
            <a:off x="2743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Contention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Kill switch actif, traitement suspendu</a:t>
            </a:r>
            <a:endParaRPr lang="en-US" sz="1400" dirty="0"/>
          </a:p>
        </p:txBody>
      </p:sp>
      <p:sp>
        <p:nvSpPr>
          <p:cNvPr id="14" name="Phase incident 3"/>
          <p:cNvSpPr/>
          <p:nvPr/>
        </p:nvSpPr>
        <p:spPr>
          <a:xfrm>
            <a:off x="4663440" y="16916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Numéro phase 3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uméro phase 3 texte"/>
          <p:cNvSpPr txBox="1"/>
          <p:nvPr/>
        </p:nvSpPr>
        <p:spPr>
          <a:xfrm>
            <a:off x="4846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Remédiation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Rollback 1.1.0 → 1.0.0, 0 anomalie restante</a:t>
            </a:r>
            <a:endParaRPr lang="en-US" sz="1400" dirty="0"/>
          </a:p>
        </p:txBody>
      </p:sp>
      <p:sp>
        <p:nvSpPr>
          <p:cNvPr id="19" name="Phase incident 4"/>
          <p:cNvSpPr/>
          <p:nvPr/>
        </p:nvSpPr>
        <p:spPr>
          <a:xfrm>
            <a:off x="6766560" y="169164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Numéro phase 4"/>
          <p:cNvSpPr/>
          <p:nvPr/>
        </p:nvSpPr>
        <p:spPr>
          <a:xfrm>
            <a:off x="69494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uméro phase 4 texte"/>
          <p:cNvSpPr txBox="1"/>
          <p:nvPr/>
        </p:nvSpPr>
        <p:spPr>
          <a:xfrm>
            <a:off x="69494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Rétablissement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Kill switch désactivé, contrôle : Risque élevé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Retour d'expérience</a:t>
            </a:r>
            <a:endParaRPr lang="en-US" sz="3200" dirty="0"/>
          </a:p>
        </p:txBody>
      </p:sp>
      <p:sp>
        <p:nvSpPr>
          <p:cNvPr id="3" name="Constat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Constat : </a:t>
            </a:r>
            <a:r>
              <a:rPr lang="en-US" sz="1600" dirty="0">
                <a:solidFill>
                  <a:schemeClr val="tx1"/>
                </a:solidFill>
              </a:rPr>
              <a:t>les cas golden ne couvraient pas le score 70 (fraude seule)</a:t>
            </a:r>
            <a:endParaRPr lang="en-US" sz="1600" dirty="0"/>
          </a:p>
        </p:txBody>
      </p:sp>
      <p:sp>
        <p:nvSpPr>
          <p:cNvPr id="5" name="Action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Action : </a:t>
            </a:r>
            <a:r>
              <a:rPr lang="en-US" sz="1600" dirty="0">
                <a:solidFill>
                  <a:schemeClr val="tx1"/>
                </a:solidFill>
              </a:rPr>
              <a:t>ajouter ce cas aux cas golden avant tout changement de seuil</a:t>
            </a:r>
            <a:endParaRPr lang="en-US" sz="1600" dirty="0"/>
          </a:p>
        </p:txBody>
      </p:sp>
      <p:sp>
        <p:nvSpPr>
          <p:cNvPr id="7" name="Règle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74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Règle : </a:t>
            </a:r>
            <a:r>
              <a:rPr lang="en-US" sz="1600" dirty="0">
                <a:solidFill>
                  <a:schemeClr val="tx1"/>
                </a:solidFill>
              </a:rPr>
              <a:t>validation pédagogique explicite pour toute modification de seuil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Déploiement et intégrations sécurisées</a:t>
            </a:r>
            <a:endParaRPr lang="en-US" sz="3200" dirty="0"/>
          </a:p>
        </p:txBody>
      </p:sp>
      <p:sp>
        <p:nvSpPr>
          <p:cNvPr id="3" name="Carte déploiement 1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Numéro déploiement 1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éro déploiement 1 texte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716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Service eduagent-api sur le port 8001, volumes outputs, logs et governance, .env non versionné</a:t>
            </a:r>
            <a:endParaRPr lang="en-US" sz="1400" dirty="0"/>
          </a:p>
        </p:txBody>
      </p:sp>
      <p:sp>
        <p:nvSpPr>
          <p:cNvPr id="8" name="Carte déploiement 2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Numéro déploiement 2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Numéro déploiement 2 texte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688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Cloud possible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80720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Azure Container Apps, Render ou Railway. Aucun déploiement Cloud réalisé dans ce projet</a:t>
            </a:r>
            <a:endParaRPr lang="en-US" sz="1400" dirty="0"/>
          </a:p>
        </p:txBody>
      </p:sp>
      <p:sp>
        <p:nvSpPr>
          <p:cNvPr id="13" name="Carte déploiement 3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4" name="Numéro déploiement 3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éro déploiement 3 texte"/>
          <p:cNvSpPr txBox="1"/>
          <p:nvPr/>
        </p:nvSpPr>
        <p:spPr>
          <a:xfrm>
            <a:off x="685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66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Secrets et flux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0448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Aucune clé dans les prompts ni le dépôt, HTTPS entre workflow et API, moindre privilège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Sécurité et limites</a:t>
            </a:r>
            <a:endParaRPr lang="en-US" sz="3200" dirty="0"/>
          </a:p>
        </p:txBody>
      </p:sp>
      <p:sp>
        <p:nvSpPr>
          <p:cNvPr id="3" name="Carte sécurité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Sécurité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Aucune clé dans le dépôt, clés d'origine révoquées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Jeton admin pour kill switch et rollback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 contact transmis au modèle</a:t>
            </a:r>
            <a:endParaRPr lang="en-US" sz="1400" dirty="0"/>
          </a:p>
        </p:txBody>
      </p:sp>
      <p:sp>
        <p:nvSpPr>
          <p:cNvPr id="6" name="Carte limites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Limites et suites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Slack simulé, données fictives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Seuils à valider par la commission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Tags Git à créer : v1.0.0, puis v1.1.0 si l'historique est conservé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37 tests automatisés : python -m pytest -q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Agent">
  <a:themeElements>
    <a:clrScheme name="EduAgent">
      <a:dk1>
        <a:srgbClr val="1B2A41"/>
      </a:dk1>
      <a:lt1>
        <a:srgbClr val="FFFFFF"/>
      </a:lt1>
      <a:dk2>
        <a:srgbClr val="0B3C49"/>
      </a:dk2>
      <a:lt2>
        <a:srgbClr val="EAF3F3"/>
      </a:lt2>
      <a:accent1>
        <a:srgbClr val="0F766E"/>
      </a:accent1>
      <a:accent2>
        <a:srgbClr val="E8A33D"/>
      </a:accent2>
      <a:accent3>
        <a:srgbClr val="C8553D"/>
      </a:accent3>
      <a:accent4>
        <a:srgbClr val="3B82A0"/>
      </a:accent4>
      <a:accent5>
        <a:srgbClr val="6B7A8F"/>
      </a:accent5>
      <a:accent6>
        <a:srgbClr val="5B8E55"/>
      </a:accent6>
      <a:hlink>
        <a:srgbClr val="0F766E"/>
      </a:hlink>
      <a:folHlink>
        <a:srgbClr val="6B7A8F"/>
      </a:folHlink>
    </a:clrScheme>
    <a:fontScheme name="EduAg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619</Words>
  <Application>Microsoft Office PowerPoint</Application>
  <PresentationFormat>Affichage à l'écran (16:9)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EduAgent</vt:lpstr>
      <vt:lpstr>EduAgent : Gouvernance d'un agent IA d'admission</vt:lpstr>
      <vt:lpstr>Objectif du jour</vt:lpstr>
      <vt:lpstr>Architecture</vt:lpstr>
      <vt:lpstr>Agent Card : identité et périmètre</vt:lpstr>
      <vt:lpstr>Agent Card : KPI et garde-fous</vt:lpstr>
      <vt:lpstr>Workflow d'approbation</vt:lpstr>
      <vt:lpstr>Versionnement SemVer</vt:lpstr>
      <vt:lpstr>Résultats du lot de test</vt:lpstr>
      <vt:lpstr>Simulation d'incident</vt:lpstr>
      <vt:lpstr>Retour d'expérience</vt:lpstr>
      <vt:lpstr>Déploiement et intégrations sécurisées</vt:lpstr>
      <vt:lpstr>Sécurité et limites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EduAgent : gouvernance d'un agent IA d'admission</dc:title>
  <dc:subject>PptxGenJS Presentation</dc:subject>
  <dc:creator>PptxGenJS</dc:creator>
  <cp:lastModifiedBy>Kamal EL AFOUI</cp:lastModifiedBy>
  <cp:revision>2</cp:revision>
  <dcterms:created xsi:type="dcterms:W3CDTF">2026-10-28T16:24:40Z</dcterms:created>
  <dcterms:modified xsi:type="dcterms:W3CDTF">2026-10-28T16:32:25Z</dcterms:modified>
</cp:coreProperties>
</file>